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ormorant Garamond Bold Italics" charset="1" panose="00000800000000000000"/>
      <p:regular r:id="rId17"/>
    </p:embeddedFont>
    <p:embeddedFont>
      <p:font typeface="Quicksand" charset="1" panose="00000000000000000000"/>
      <p:regular r:id="rId18"/>
    </p:embeddedFont>
    <p:embeddedFont>
      <p:font typeface="Quicksand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478342"/>
            <a:ext cx="16229942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GomokuPRO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7539" y="5685238"/>
            <a:ext cx="12812922" cy="8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CSE 3117: 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49752" y="7936944"/>
            <a:ext cx="6988496" cy="52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29 December,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22179" y="1958056"/>
            <a:ext cx="11643643" cy="60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sz="35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Prepared by group Alpha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78327" y="6555598"/>
            <a:ext cx="6988496" cy="62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37"/>
              </a:lnSpc>
              <a:spcBef>
                <a:spcPct val="0"/>
              </a:spcBef>
            </a:pPr>
            <a:r>
              <a:rPr lang="en-US" sz="37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Supervisor: Dr. Ahmedul Kabir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67929" y="2049743"/>
            <a:ext cx="3625814" cy="362581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67" r="0" b="-36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174569" y="2049743"/>
            <a:ext cx="3625814" cy="362581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3562" r="0" b="-1977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960915" y="2049743"/>
            <a:ext cx="3625814" cy="362581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6444" r="0" b="-688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599709"/>
            <a:ext cx="99149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Team Members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35340" y="6208882"/>
            <a:ext cx="50173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Md. Asad Al Mahmud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35340" y="7012590"/>
            <a:ext cx="50173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(1515)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99130" y="6208882"/>
            <a:ext cx="50173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Tarek Jamil Adnan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41980" y="6986905"/>
            <a:ext cx="50173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(1520)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208882"/>
            <a:ext cx="50173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Kazi Farhana Faruque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986905"/>
            <a:ext cx="50173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(1506)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5375" y="3299297"/>
            <a:ext cx="16547016" cy="423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8500"/>
              </a:lnSpc>
              <a:buFont typeface="Arial"/>
              <a:buChar char="•"/>
            </a:pPr>
            <a:r>
              <a:rPr lang="en-US" b="true" sz="5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Web-based Gomoku game (Frontend + Backend)</a:t>
            </a:r>
          </a:p>
          <a:p>
            <a:pPr algn="l" marL="1079501" indent="-539750" lvl="1">
              <a:lnSpc>
                <a:spcPts val="8500"/>
              </a:lnSpc>
              <a:buFont typeface="Arial"/>
              <a:buChar char="•"/>
            </a:pPr>
            <a:r>
              <a:rPr lang="en-US" b="true" sz="5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10×10 board, 5-in-a-row win condition</a:t>
            </a:r>
          </a:p>
          <a:p>
            <a:pPr algn="l" marL="1079501" indent="-539750" lvl="1">
              <a:lnSpc>
                <a:spcPts val="8500"/>
              </a:lnSpc>
              <a:buFont typeface="Arial"/>
              <a:buChar char="•"/>
            </a:pPr>
            <a:r>
              <a:rPr lang="en-US" b="true" sz="5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Configurable AI opponent</a:t>
            </a:r>
          </a:p>
          <a:p>
            <a:pPr algn="l" marL="1079501" indent="-539750" lvl="1">
              <a:lnSpc>
                <a:spcPts val="8500"/>
              </a:lnSpc>
              <a:buFont typeface="Arial"/>
              <a:buChar char="•"/>
            </a:pPr>
            <a:r>
              <a:rPr lang="en-US" b="true" sz="5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Persistent game results &amp; statistics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75746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97880" y="8534872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04001" y="189905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0184"/>
            <a:ext cx="804816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304001" y="912323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04925" y="8565356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23925"/>
            <a:ext cx="939024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Game AI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24203"/>
            <a:ext cx="11540101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400" indent="-647700" lvl="1">
              <a:lnSpc>
                <a:spcPts val="10200"/>
              </a:lnSpc>
              <a:buFont typeface="Arial"/>
              <a:buChar char="•"/>
            </a:pPr>
            <a:r>
              <a:rPr lang="en-US" b="true" sz="6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Minimax game tree search</a:t>
            </a:r>
          </a:p>
          <a:p>
            <a:pPr algn="l" marL="1295400" indent="-647700" lvl="1">
              <a:lnSpc>
                <a:spcPts val="10200"/>
              </a:lnSpc>
              <a:buFont typeface="Arial"/>
              <a:buChar char="•"/>
            </a:pPr>
            <a:r>
              <a:rPr lang="en-US" b="true" sz="6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Depth-limited strategy</a:t>
            </a:r>
          </a:p>
          <a:p>
            <a:pPr algn="l" marL="1295400" indent="-647700" lvl="1">
              <a:lnSpc>
                <a:spcPts val="10200"/>
              </a:lnSpc>
              <a:buFont typeface="Arial"/>
              <a:buChar char="•"/>
            </a:pPr>
            <a:r>
              <a:rPr lang="en-US" b="true" sz="6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Difficulty-based AI levels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71550" y="3844925"/>
            <a:ext cx="6982541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Move Generation &amp; Ordering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105388"/>
            <a:ext cx="8759183" cy="6533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17535" indent="-558767" lvl="1">
              <a:lnSpc>
                <a:spcPts val="8799"/>
              </a:lnSpc>
              <a:buFont typeface="Arial"/>
              <a:buChar char="•"/>
            </a:pP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Moves generated near existing stones</a:t>
            </a:r>
          </a:p>
          <a:p>
            <a:pPr algn="l" marL="1117535" indent="-558767" lvl="1">
              <a:lnSpc>
                <a:spcPts val="8799"/>
              </a:lnSpc>
              <a:buFont typeface="Arial"/>
              <a:buChar char="•"/>
            </a:pP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</a:t>
            </a: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euristic-based ordering</a:t>
            </a:r>
          </a:p>
          <a:p>
            <a:pPr algn="l" marL="1117535" indent="-558767" lvl="1">
              <a:lnSpc>
                <a:spcPts val="8799"/>
              </a:lnSpc>
              <a:buFont typeface="Arial"/>
              <a:buChar char="•"/>
            </a:pP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Only</a:t>
            </a: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top-N promising moves explored</a:t>
            </a:r>
          </a:p>
        </p:txBody>
      </p:sp>
      <p:sp>
        <p:nvSpPr>
          <p:cNvPr name="AutoShape 7" id="7"/>
          <p:cNvSpPr/>
          <p:nvPr/>
        </p:nvSpPr>
        <p:spPr>
          <a:xfrm>
            <a:off x="971550" y="92964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0651" y="0"/>
            <a:ext cx="4627349" cy="10287000"/>
            <a:chOff x="0" y="0"/>
            <a:chExt cx="121872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87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18726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71575"/>
            <a:ext cx="7346400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Alpha-Beta Pruning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9765" y="3003153"/>
            <a:ext cx="10334416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400" indent="-647700" lvl="1">
              <a:lnSpc>
                <a:spcPts val="8400"/>
              </a:lnSpc>
              <a:buFont typeface="Arial"/>
              <a:buChar char="•"/>
            </a:pPr>
            <a:r>
              <a:rPr lang="en-US" b="true" sz="6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Optimizes Minimax</a:t>
            </a:r>
          </a:p>
          <a:p>
            <a:pPr algn="l" marL="1295400" indent="-647700" lvl="1">
              <a:lnSpc>
                <a:spcPts val="8400"/>
              </a:lnSpc>
              <a:buFont typeface="Arial"/>
              <a:buChar char="•"/>
            </a:pPr>
            <a:r>
              <a:rPr lang="en-US" b="true" sz="6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Cuts irrelevant branches</a:t>
            </a:r>
          </a:p>
          <a:p>
            <a:pPr algn="l" marL="1295400" indent="-647700" lvl="1">
              <a:lnSpc>
                <a:spcPts val="8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6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Faster decision making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04925" y="8565356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71550" y="3844925"/>
            <a:ext cx="698254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Evaluation Function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855252"/>
            <a:ext cx="8759183" cy="4328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17535" indent="-558767" lvl="1">
              <a:lnSpc>
                <a:spcPts val="8799"/>
              </a:lnSpc>
              <a:buFont typeface="Arial"/>
              <a:buChar char="•"/>
            </a:pP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Pattern-based scoring</a:t>
            </a:r>
          </a:p>
          <a:p>
            <a:pPr algn="l" marL="1117535" indent="-558767" lvl="1">
              <a:lnSpc>
                <a:spcPts val="8799"/>
              </a:lnSpc>
              <a:buFont typeface="Arial"/>
              <a:buChar char="•"/>
            </a:pP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Open/closed sequences</a:t>
            </a:r>
          </a:p>
          <a:p>
            <a:pPr algn="l" marL="1117535" indent="-558767" lvl="1">
              <a:lnSpc>
                <a:spcPts val="8799"/>
              </a:lnSpc>
              <a:buFont typeface="Arial"/>
              <a:buChar char="•"/>
            </a:pP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Positional &amp; adjacency bias</a:t>
            </a:r>
          </a:p>
        </p:txBody>
      </p:sp>
      <p:sp>
        <p:nvSpPr>
          <p:cNvPr name="AutoShape 7" id="7"/>
          <p:cNvSpPr/>
          <p:nvPr/>
        </p:nvSpPr>
        <p:spPr>
          <a:xfrm>
            <a:off x="971550" y="92964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65963" y="2082723"/>
            <a:ext cx="6013378" cy="7175577"/>
            <a:chOff x="0" y="0"/>
            <a:chExt cx="1418473" cy="1692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8473" cy="1692619"/>
            </a:xfrm>
            <a:custGeom>
              <a:avLst/>
              <a:gdLst/>
              <a:ahLst/>
              <a:cxnLst/>
              <a:rect r="r" b="b" t="t" l="l"/>
              <a:pathLst>
                <a:path h="1692619" w="1418473">
                  <a:moveTo>
                    <a:pt x="65660" y="0"/>
                  </a:moveTo>
                  <a:lnTo>
                    <a:pt x="1352813" y="0"/>
                  </a:lnTo>
                  <a:cubicBezTo>
                    <a:pt x="1389076" y="0"/>
                    <a:pt x="1418473" y="29397"/>
                    <a:pt x="1418473" y="65660"/>
                  </a:cubicBezTo>
                  <a:lnTo>
                    <a:pt x="1418473" y="1626959"/>
                  </a:lnTo>
                  <a:cubicBezTo>
                    <a:pt x="1418473" y="1663223"/>
                    <a:pt x="1389076" y="1692619"/>
                    <a:pt x="1352813" y="1692619"/>
                  </a:cubicBezTo>
                  <a:lnTo>
                    <a:pt x="65660" y="1692619"/>
                  </a:lnTo>
                  <a:cubicBezTo>
                    <a:pt x="29397" y="1692619"/>
                    <a:pt x="0" y="1663223"/>
                    <a:pt x="0" y="1626959"/>
                  </a:cubicBezTo>
                  <a:lnTo>
                    <a:pt x="0" y="65660"/>
                  </a:lnTo>
                  <a:cubicBezTo>
                    <a:pt x="0" y="29397"/>
                    <a:pt x="29397" y="0"/>
                    <a:pt x="65660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anchor="ctr" rtlCol="false" tIns="56720" lIns="56720" bIns="56720" rIns="5672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38059" y="2082723"/>
            <a:ext cx="6013378" cy="7175577"/>
            <a:chOff x="0" y="0"/>
            <a:chExt cx="1418473" cy="1692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8473" cy="1692619"/>
            </a:xfrm>
            <a:custGeom>
              <a:avLst/>
              <a:gdLst/>
              <a:ahLst/>
              <a:cxnLst/>
              <a:rect r="r" b="b" t="t" l="l"/>
              <a:pathLst>
                <a:path h="1692619" w="1418473">
                  <a:moveTo>
                    <a:pt x="65660" y="0"/>
                  </a:moveTo>
                  <a:lnTo>
                    <a:pt x="1352813" y="0"/>
                  </a:lnTo>
                  <a:cubicBezTo>
                    <a:pt x="1389076" y="0"/>
                    <a:pt x="1418473" y="29397"/>
                    <a:pt x="1418473" y="65660"/>
                  </a:cubicBezTo>
                  <a:lnTo>
                    <a:pt x="1418473" y="1626959"/>
                  </a:lnTo>
                  <a:cubicBezTo>
                    <a:pt x="1418473" y="1663223"/>
                    <a:pt x="1389076" y="1692619"/>
                    <a:pt x="1352813" y="1692619"/>
                  </a:cubicBezTo>
                  <a:lnTo>
                    <a:pt x="65660" y="1692619"/>
                  </a:lnTo>
                  <a:cubicBezTo>
                    <a:pt x="29397" y="1692619"/>
                    <a:pt x="0" y="1663223"/>
                    <a:pt x="0" y="1626959"/>
                  </a:cubicBezTo>
                  <a:lnTo>
                    <a:pt x="0" y="65660"/>
                  </a:lnTo>
                  <a:cubicBezTo>
                    <a:pt x="0" y="29397"/>
                    <a:pt x="29397" y="0"/>
                    <a:pt x="65660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anchor="ctr" rtlCol="false" tIns="56720" lIns="56720" bIns="56720" rIns="5672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274572" y="2768758"/>
            <a:ext cx="3940353" cy="3016161"/>
          </a:xfrm>
          <a:custGeom>
            <a:avLst/>
            <a:gdLst/>
            <a:ahLst/>
            <a:cxnLst/>
            <a:rect r="r" b="b" t="t" l="l"/>
            <a:pathLst>
              <a:path h="3016161" w="3940353">
                <a:moveTo>
                  <a:pt x="0" y="0"/>
                </a:moveTo>
                <a:lnTo>
                  <a:pt x="3940352" y="0"/>
                </a:lnTo>
                <a:lnTo>
                  <a:pt x="3940352" y="3016161"/>
                </a:lnTo>
                <a:lnTo>
                  <a:pt x="0" y="30161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18960" y="2778283"/>
            <a:ext cx="3707385" cy="2918723"/>
          </a:xfrm>
          <a:custGeom>
            <a:avLst/>
            <a:gdLst/>
            <a:ahLst/>
            <a:cxnLst/>
            <a:rect r="r" b="b" t="t" l="l"/>
            <a:pathLst>
              <a:path h="2918723" w="3707385">
                <a:moveTo>
                  <a:pt x="0" y="0"/>
                </a:moveTo>
                <a:lnTo>
                  <a:pt x="3707384" y="0"/>
                </a:lnTo>
                <a:lnTo>
                  <a:pt x="3707384" y="2918723"/>
                </a:lnTo>
                <a:lnTo>
                  <a:pt x="0" y="2918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599709"/>
            <a:ext cx="81153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Project 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24442" y="6597579"/>
            <a:ext cx="5696420" cy="180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722" indent="-310861" lvl="1">
              <a:lnSpc>
                <a:spcPts val="4895"/>
              </a:lnSpc>
              <a:buFont typeface="Arial"/>
              <a:buChar char="•"/>
            </a:pPr>
            <a:r>
              <a:rPr lang="en-US" b="true" sz="287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React + Vite</a:t>
            </a:r>
          </a:p>
          <a:p>
            <a:pPr algn="l" marL="621722" indent="-310861" lvl="1">
              <a:lnSpc>
                <a:spcPts val="4895"/>
              </a:lnSpc>
              <a:buFont typeface="Arial"/>
              <a:buChar char="•"/>
            </a:pPr>
            <a:r>
              <a:rPr lang="en-US" b="true" sz="287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Interactive board UI</a:t>
            </a:r>
          </a:p>
          <a:p>
            <a:pPr algn="l" marL="621722" indent="-310861" lvl="1">
              <a:lnSpc>
                <a:spcPts val="4895"/>
              </a:lnSpc>
              <a:buFont typeface="Arial"/>
              <a:buChar char="•"/>
            </a:pPr>
            <a:r>
              <a:rPr lang="en-US" b="true" sz="287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Settings, Scoreboard, Rules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24442" y="5784811"/>
            <a:ext cx="5696420" cy="60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76"/>
              </a:lnSpc>
              <a:spcBef>
                <a:spcPct val="0"/>
              </a:spcBef>
            </a:pPr>
            <a:r>
              <a:rPr lang="en-US" b="true" sz="36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Frontend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96538" y="6597579"/>
            <a:ext cx="5696420" cy="180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722" indent="-310861" lvl="1">
              <a:lnSpc>
                <a:spcPts val="4895"/>
              </a:lnSpc>
              <a:buFont typeface="Arial"/>
              <a:buChar char="•"/>
            </a:pPr>
            <a:r>
              <a:rPr lang="en-US" b="true" sz="287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Node.js + Express</a:t>
            </a:r>
          </a:p>
          <a:p>
            <a:pPr algn="l" marL="621722" indent="-310861" lvl="1">
              <a:lnSpc>
                <a:spcPts val="4895"/>
              </a:lnSpc>
              <a:buFont typeface="Arial"/>
              <a:buChar char="•"/>
            </a:pPr>
            <a:r>
              <a:rPr lang="en-US" b="true" sz="287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MongoDB database</a:t>
            </a:r>
          </a:p>
          <a:p>
            <a:pPr algn="l" marL="621722" indent="-310861" lvl="1">
              <a:lnSpc>
                <a:spcPts val="4895"/>
              </a:lnSpc>
              <a:buFont typeface="Arial"/>
              <a:buChar char="•"/>
            </a:pPr>
            <a:r>
              <a:rPr lang="en-US" b="true" sz="287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REST APIs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96538" y="5857837"/>
            <a:ext cx="5696420" cy="60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76"/>
              </a:lnSpc>
              <a:spcBef>
                <a:spcPct val="0"/>
              </a:spcBef>
            </a:pPr>
            <a:r>
              <a:rPr lang="en-US" b="true" sz="36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Backend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71550" y="3844925"/>
            <a:ext cx="698254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Evaluation Criteria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855252"/>
            <a:ext cx="8759183" cy="4328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17535" indent="-558767" lvl="1">
              <a:lnSpc>
                <a:spcPts val="8799"/>
              </a:lnSpc>
              <a:buFont typeface="Arial"/>
              <a:buChar char="•"/>
            </a:pP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Correct gameplay</a:t>
            </a:r>
          </a:p>
          <a:p>
            <a:pPr algn="l" marL="1117535" indent="-558767" lvl="1">
              <a:lnSpc>
                <a:spcPts val="8799"/>
              </a:lnSpc>
              <a:buFont typeface="Arial"/>
              <a:buChar char="•"/>
            </a:pP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</a:t>
            </a: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 efficiency</a:t>
            </a:r>
          </a:p>
          <a:p>
            <a:pPr algn="l" marL="1117535" indent="-558767" lvl="1">
              <a:lnSpc>
                <a:spcPts val="8799"/>
              </a:lnSpc>
              <a:buFont typeface="Arial"/>
              <a:buChar char="•"/>
            </a:pP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UI responsiveness</a:t>
            </a:r>
          </a:p>
          <a:p>
            <a:pPr algn="l" marL="1117535" indent="-558767" lvl="1">
              <a:lnSpc>
                <a:spcPts val="8799"/>
              </a:lnSpc>
              <a:buFont typeface="Arial"/>
              <a:buChar char="•"/>
            </a:pPr>
            <a:r>
              <a:rPr lang="en-US" b="true" sz="517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 reliability</a:t>
            </a:r>
          </a:p>
        </p:txBody>
      </p:sp>
      <p:sp>
        <p:nvSpPr>
          <p:cNvPr name="AutoShape 7" id="7"/>
          <p:cNvSpPr/>
          <p:nvPr/>
        </p:nvSpPr>
        <p:spPr>
          <a:xfrm>
            <a:off x="971550" y="92964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90184"/>
            <a:ext cx="1153482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76418" y="3495022"/>
            <a:ext cx="12791958" cy="37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946" indent="-647973" lvl="1">
              <a:lnSpc>
                <a:spcPts val="10204"/>
              </a:lnSpc>
              <a:buFont typeface="Arial"/>
              <a:buChar char="•"/>
            </a:pPr>
            <a:r>
              <a:rPr lang="en-US" b="true" sz="6002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Full-stack Gomoku game</a:t>
            </a:r>
          </a:p>
          <a:p>
            <a:pPr algn="l" marL="1295946" indent="-647973" lvl="1">
              <a:lnSpc>
                <a:spcPts val="10204"/>
              </a:lnSpc>
              <a:buFont typeface="Arial"/>
              <a:buChar char="•"/>
            </a:pPr>
            <a:r>
              <a:rPr lang="en-US" b="true" sz="6002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Intelligent AI opponent</a:t>
            </a:r>
          </a:p>
          <a:p>
            <a:pPr algn="l" marL="1295946" indent="-647973" lvl="1">
              <a:lnSpc>
                <a:spcPts val="10204"/>
              </a:lnSpc>
              <a:buFont typeface="Arial"/>
              <a:buChar char="•"/>
            </a:pPr>
            <a:r>
              <a:rPr lang="en-US" b="true" sz="6002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Expandable &amp; scalable system</a:t>
            </a:r>
          </a:p>
        </p:txBody>
      </p:sp>
      <p:sp>
        <p:nvSpPr>
          <p:cNvPr name="AutoShape 4" id="4"/>
          <p:cNvSpPr/>
          <p:nvPr/>
        </p:nvSpPr>
        <p:spPr>
          <a:xfrm>
            <a:off x="5897880" y="2571097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5897880" y="8562161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1756974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04001" y="9123825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DAG8xa1jnSc</dc:identifier>
  <dcterms:modified xsi:type="dcterms:W3CDTF">2011-08-01T06:04:30Z</dcterms:modified>
  <cp:revision>1</cp:revision>
  <dc:title>Prepared by group alpha</dc:title>
</cp:coreProperties>
</file>